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200513"/>
            <a:ext cx="4514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CARE-LIFE</a:t>
            </a:r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Framework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714375" y="2514963"/>
            <a:ext cx="45148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Operating Model (Draft)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714375" y="2932147"/>
            <a:ext cx="45148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Lifecycle Support, Casework and Data Structure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14375" y="3632234"/>
            <a:ext cx="4514850" cy="3107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ALIGNMENT FOR</a:t>
            </a:r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CONTINUITY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4593431"/>
            <a:ext cx="11715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CaringSG Internal | 2026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2871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We Are Structuring This Now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557338"/>
            <a:ext cx="3914775" cy="100816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557338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700213"/>
            <a:ext cx="3629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D4GX Compliance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1993106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D4GX requires a structured data model to support advanced analytics and reporting.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657725" y="1557338"/>
            <a:ext cx="3914775" cy="100816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657725" y="1557338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700213"/>
            <a:ext cx="3629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Succession Planning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800600" y="1993106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into backup caregivers and future readiness is currently limited.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71500" y="2722662"/>
            <a:ext cx="3914775" cy="10224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2722662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2865537"/>
            <a:ext cx="3629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Integration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14375" y="3158430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member data is fragmented across multiple touchpoints and systems.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657725" y="2722662"/>
            <a:ext cx="3914775" cy="10224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657725" y="2722662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2879824"/>
            <a:ext cx="3629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Signal Tracking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800600" y="3172718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Caregiver wellness and engagement signals are not yet systematically tracked.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71500" y="3745111"/>
            <a:ext cx="8001000" cy="619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1013520" y="3916561"/>
            <a:ext cx="71169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framework aligns </a:t>
            </a:r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programme, casework and data structure.</a:t>
            </a:r>
            <a:endParaRPr lang="en-US" sz="1602" dirty="0"/>
          </a:p>
        </p:txBody>
      </p:sp>
      <p:sp>
        <p:nvSpPr>
          <p:cNvPr id="24" name="Text 21"/>
          <p:cNvSpPr/>
          <p:nvPr/>
        </p:nvSpPr>
        <p:spPr>
          <a:xfrm>
            <a:off x="571500" y="445055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2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9478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530423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Lifecycle Stages vs Caregiving Burden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71500" y="1380530"/>
            <a:ext cx="8001000" cy="2487030"/>
          </a:xfrm>
          <a:prstGeom prst="rect">
            <a:avLst/>
          </a:prstGeom>
          <a:solidFill>
            <a:srgbClr val="E2E8F0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80530"/>
            <a:ext cx="1994892" cy="24727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594842"/>
            <a:ext cx="170914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714375" y="1785938"/>
            <a:ext cx="170914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Early Years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14375" y="2031671"/>
            <a:ext cx="719733" cy="1785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031671"/>
            <a:ext cx="719733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Cradle – 7yr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714375" y="2438865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2392431"/>
            <a:ext cx="11769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uncertainty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714375" y="2713174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857250" y="2666740"/>
            <a:ext cx="13858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baseline formation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714375" y="2987483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2941048"/>
            <a:ext cx="1207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intervention load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714375" y="3261792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857250" y="3215357"/>
            <a:ext cx="129480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emotional volatility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2573536" y="1380530"/>
            <a:ext cx="1994892" cy="24727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2716411" y="1594842"/>
            <a:ext cx="170914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2716411" y="1785938"/>
            <a:ext cx="170914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School Years</a:t>
            </a:r>
            <a:endParaRPr lang="en-US" sz="1090" dirty="0"/>
          </a:p>
        </p:txBody>
      </p:sp>
      <p:sp>
        <p:nvSpPr>
          <p:cNvPr id="23" name="Shape 20"/>
          <p:cNvSpPr/>
          <p:nvPr/>
        </p:nvSpPr>
        <p:spPr>
          <a:xfrm>
            <a:off x="2716411" y="2031671"/>
            <a:ext cx="507206" cy="1785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2716411" y="2031671"/>
            <a:ext cx="507206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– 19yr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2716411" y="2438865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859286" y="2392431"/>
            <a:ext cx="8911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stress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2716411" y="2713174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2859286" y="2666740"/>
            <a:ext cx="11537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Therapy coordination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2716411" y="2987483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2859286" y="2941048"/>
            <a:ext cx="9376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integration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2716411" y="3261792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2859286" y="3215357"/>
            <a:ext cx="7661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Sibling impact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575572" y="1380530"/>
            <a:ext cx="1994892" cy="24727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4718447" y="1594842"/>
            <a:ext cx="170914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718447" y="1785938"/>
            <a:ext cx="170914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Adulthood</a:t>
            </a:r>
            <a:endParaRPr lang="en-US" sz="1090" dirty="0"/>
          </a:p>
        </p:txBody>
      </p:sp>
      <p:sp>
        <p:nvSpPr>
          <p:cNvPr id="36" name="Shape 33"/>
          <p:cNvSpPr/>
          <p:nvPr/>
        </p:nvSpPr>
        <p:spPr>
          <a:xfrm>
            <a:off x="4718447" y="2031671"/>
            <a:ext cx="584002" cy="1785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4"/>
          <p:cNvSpPr/>
          <p:nvPr/>
        </p:nvSpPr>
        <p:spPr>
          <a:xfrm>
            <a:off x="4718447" y="2031671"/>
            <a:ext cx="584002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– 40yr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718447" y="2438865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4861322" y="2392431"/>
            <a:ext cx="13144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 uncertainty</a:t>
            </a:r>
            <a:endParaRPr lang="en-US" sz="834" dirty="0"/>
          </a:p>
        </p:txBody>
      </p:sp>
      <p:sp>
        <p:nvSpPr>
          <p:cNvPr id="40" name="Shape 37"/>
          <p:cNvSpPr/>
          <p:nvPr/>
        </p:nvSpPr>
        <p:spPr>
          <a:xfrm>
            <a:off x="4718447" y="2713174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8"/>
          <p:cNvSpPr/>
          <p:nvPr/>
        </p:nvSpPr>
        <p:spPr>
          <a:xfrm>
            <a:off x="4861322" y="2666740"/>
            <a:ext cx="15144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and financial planning</a:t>
            </a:r>
            <a:endParaRPr lang="en-US" sz="834" dirty="0"/>
          </a:p>
        </p:txBody>
      </p:sp>
      <p:sp>
        <p:nvSpPr>
          <p:cNvPr id="42" name="Shape 39"/>
          <p:cNvSpPr/>
          <p:nvPr/>
        </p:nvSpPr>
        <p:spPr>
          <a:xfrm>
            <a:off x="4718447" y="2987483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0"/>
          <p:cNvSpPr/>
          <p:nvPr/>
        </p:nvSpPr>
        <p:spPr>
          <a:xfrm>
            <a:off x="4861322" y="2941048"/>
            <a:ext cx="14144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 health complexity</a:t>
            </a:r>
            <a:endParaRPr lang="en-US" sz="834" dirty="0"/>
          </a:p>
        </p:txBody>
      </p:sp>
      <p:sp>
        <p:nvSpPr>
          <p:cNvPr id="44" name="Shape 41"/>
          <p:cNvSpPr/>
          <p:nvPr/>
        </p:nvSpPr>
        <p:spPr>
          <a:xfrm>
            <a:off x="4718447" y="3261792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2"/>
          <p:cNvSpPr/>
          <p:nvPr/>
        </p:nvSpPr>
        <p:spPr>
          <a:xfrm>
            <a:off x="4861322" y="3215357"/>
            <a:ext cx="932259" cy="297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Caregiver fatigue accumulation</a:t>
            </a:r>
            <a:endParaRPr lang="en-US" sz="834" dirty="0"/>
          </a:p>
        </p:txBody>
      </p:sp>
      <p:sp>
        <p:nvSpPr>
          <p:cNvPr id="46" name="Shape 43"/>
          <p:cNvSpPr/>
          <p:nvPr/>
        </p:nvSpPr>
        <p:spPr>
          <a:xfrm>
            <a:off x="6577608" y="1380530"/>
            <a:ext cx="1994892" cy="247274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7" name="Text 44"/>
          <p:cNvSpPr/>
          <p:nvPr/>
        </p:nvSpPr>
        <p:spPr>
          <a:xfrm>
            <a:off x="6720483" y="1594842"/>
            <a:ext cx="170914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6720483" y="1785938"/>
            <a:ext cx="170914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Succession</a:t>
            </a:r>
            <a:endParaRPr lang="en-US" sz="1090" dirty="0"/>
          </a:p>
        </p:txBody>
      </p:sp>
      <p:sp>
        <p:nvSpPr>
          <p:cNvPr id="49" name="Shape 46"/>
          <p:cNvSpPr/>
          <p:nvPr/>
        </p:nvSpPr>
        <p:spPr>
          <a:xfrm>
            <a:off x="6720483" y="2031671"/>
            <a:ext cx="664369" cy="1785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7"/>
          <p:cNvSpPr/>
          <p:nvPr/>
        </p:nvSpPr>
        <p:spPr>
          <a:xfrm>
            <a:off x="6720483" y="2031671"/>
            <a:ext cx="664369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– Grave</a:t>
            </a:r>
            <a:endParaRPr lang="en-US" sz="683" dirty="0"/>
          </a:p>
        </p:txBody>
      </p:sp>
      <p:sp>
        <p:nvSpPr>
          <p:cNvPr id="51" name="Shape 48"/>
          <p:cNvSpPr/>
          <p:nvPr/>
        </p:nvSpPr>
        <p:spPr>
          <a:xfrm>
            <a:off x="6720483" y="2438865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49"/>
          <p:cNvSpPr/>
          <p:nvPr/>
        </p:nvSpPr>
        <p:spPr>
          <a:xfrm>
            <a:off x="6863358" y="2392431"/>
            <a:ext cx="12430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caregiver gaps</a:t>
            </a:r>
            <a:endParaRPr lang="en-US" sz="834" dirty="0"/>
          </a:p>
        </p:txBody>
      </p:sp>
      <p:sp>
        <p:nvSpPr>
          <p:cNvPr id="53" name="Shape 50"/>
          <p:cNvSpPr/>
          <p:nvPr/>
        </p:nvSpPr>
        <p:spPr>
          <a:xfrm>
            <a:off x="6720483" y="2713174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51"/>
          <p:cNvSpPr/>
          <p:nvPr/>
        </p:nvSpPr>
        <p:spPr>
          <a:xfrm>
            <a:off x="6863358" y="2666740"/>
            <a:ext cx="1223367" cy="297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Aging caregiver health decline</a:t>
            </a:r>
            <a:endParaRPr lang="en-US" sz="834" dirty="0"/>
          </a:p>
        </p:txBody>
      </p:sp>
      <p:sp>
        <p:nvSpPr>
          <p:cNvPr id="55" name="Shape 52"/>
          <p:cNvSpPr/>
          <p:nvPr/>
        </p:nvSpPr>
        <p:spPr>
          <a:xfrm>
            <a:off x="6720483" y="3147492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3"/>
          <p:cNvSpPr/>
          <p:nvPr/>
        </p:nvSpPr>
        <p:spPr>
          <a:xfrm>
            <a:off x="6863358" y="3101057"/>
            <a:ext cx="12876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transition planning</a:t>
            </a:r>
            <a:endParaRPr lang="en-US" sz="834" dirty="0"/>
          </a:p>
        </p:txBody>
      </p:sp>
      <p:sp>
        <p:nvSpPr>
          <p:cNvPr id="57" name="Shape 54"/>
          <p:cNvSpPr/>
          <p:nvPr/>
        </p:nvSpPr>
        <p:spPr>
          <a:xfrm>
            <a:off x="6720483" y="3421800"/>
            <a:ext cx="4286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Text 55"/>
          <p:cNvSpPr/>
          <p:nvPr/>
        </p:nvSpPr>
        <p:spPr>
          <a:xfrm>
            <a:off x="6863358" y="3375366"/>
            <a:ext cx="7822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 risk</a:t>
            </a:r>
            <a:endParaRPr lang="en-US" sz="834" dirty="0"/>
          </a:p>
        </p:txBody>
      </p:sp>
      <p:sp>
        <p:nvSpPr>
          <p:cNvPr id="59" name="Shape 56"/>
          <p:cNvSpPr/>
          <p:nvPr/>
        </p:nvSpPr>
        <p:spPr>
          <a:xfrm>
            <a:off x="571500" y="4067584"/>
            <a:ext cx="8001000" cy="44112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7"/>
          <p:cNvSpPr/>
          <p:nvPr/>
        </p:nvSpPr>
        <p:spPr>
          <a:xfrm>
            <a:off x="571500" y="4067584"/>
            <a:ext cx="42863" cy="44112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8"/>
          <p:cNvSpPr/>
          <p:nvPr/>
        </p:nvSpPr>
        <p:spPr>
          <a:xfrm>
            <a:off x="714375" y="4210459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Implication: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 must capture evolving burden and continuity risk across lifecycle.</a:t>
            </a:r>
            <a:endParaRPr lang="en-US" sz="885" dirty="0"/>
          </a:p>
        </p:txBody>
      </p:sp>
      <p:sp>
        <p:nvSpPr>
          <p:cNvPr id="62" name="Text 59"/>
          <p:cNvSpPr/>
          <p:nvPr/>
        </p:nvSpPr>
        <p:spPr>
          <a:xfrm>
            <a:off x="571500" y="465158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4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50119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52863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CARE-LIFE Operational Loop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56407"/>
            <a:ext cx="8001000" cy="3000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2885" y="4399657"/>
            <a:ext cx="58382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→ Assess → Respond → Enable →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across the caregiver lifecycle.</a:t>
            </a:r>
            <a:pPr algn="ctr" indent="0" marL="0">
              <a:lnSpc>
                <a:spcPts val="1400"/>
              </a:lnSpc>
              <a:buNone/>
            </a:pP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4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2871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This Links to the Use Case Diagram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557338"/>
            <a:ext cx="35683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WORKFLOW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1821656"/>
            <a:ext cx="356830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-1" kern="0" dirty="0">
                <a:solidFill>
                  <a:srgbClr val="3B82F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Existing Use Cases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71500" y="231278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caregiver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71283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support request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11288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key worker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51293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 programme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4197" y="1557338"/>
            <a:ext cx="35683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LOGIC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004197" y="1821656"/>
            <a:ext cx="356830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-1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Use Cases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5004197" y="231278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family information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04197" y="271283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succession plan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04197" y="3112889"/>
            <a:ext cx="3568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check-in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" y="3912989"/>
            <a:ext cx="8001000" cy="512564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3912989"/>
            <a:ext cx="8001000" cy="51256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reflects CARE-LIFE logic: Bridging casework and data structure.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469701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5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2871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This Links to the Data Model (ERD)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57313"/>
            <a:ext cx="3929063" cy="261025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57313"/>
            <a:ext cx="3929063" cy="428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930208"/>
            <a:ext cx="35004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LIFECYCLE TRACKING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85813" y="2137377"/>
            <a:ext cx="350043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16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Stable Person Object</a:t>
            </a:r>
            <a:endParaRPr lang="en-US" sz="2016" dirty="0"/>
          </a:p>
        </p:txBody>
      </p:sp>
      <p:sp>
        <p:nvSpPr>
          <p:cNvPr id="10" name="Text 7"/>
          <p:cNvSpPr/>
          <p:nvPr/>
        </p:nvSpPr>
        <p:spPr>
          <a:xfrm>
            <a:off x="785813" y="2537427"/>
            <a:ext cx="35004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Anchoring on a stable Person object enables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longitudinal visibility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allowing us to track the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caregiver's journey over time without data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43438" y="1357313"/>
            <a:ext cx="3929063" cy="81293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7738" y="1471613"/>
            <a:ext cx="37004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FamilyUnit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757738" y="1721644"/>
            <a:ext cx="3700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critical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household context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grouping individuals to visualize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broader support environment.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643438" y="2241686"/>
            <a:ext cx="3929063" cy="81293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7738" y="2355986"/>
            <a:ext cx="37004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PersonRecipientLink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757738" y="2606018"/>
            <a:ext cx="3700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specific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caregiving relationships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time, ensuring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 as needs evolve.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643438" y="3126060"/>
            <a:ext cx="3929063" cy="81293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7738" y="3240360"/>
            <a:ext cx="37004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Backup Mapping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757738" y="3490392"/>
            <a:ext cx="3700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secondary caregivers to enable proactive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planning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readiness.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71500" y="4096159"/>
            <a:ext cx="8001000" cy="3839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096159"/>
            <a:ext cx="28575" cy="3839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4096159"/>
            <a:ext cx="8001000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model enables structured tracking of the caregiver journey across the lifecycle.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71500" y="4565861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6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2871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Signals Will We Systematically Capture?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85900"/>
            <a:ext cx="57150" cy="571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414463"/>
            <a:ext cx="3614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ZBI-6 Baseline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650206"/>
            <a:ext cx="3614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caregiver burden scale at intake.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2085975"/>
            <a:ext cx="57150" cy="571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42950" y="2014538"/>
            <a:ext cx="3614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Interactions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42950" y="2250281"/>
            <a:ext cx="3614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and depth of caseworker touchpoints.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2686050"/>
            <a:ext cx="57150" cy="571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42950" y="2614613"/>
            <a:ext cx="3614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Participation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42950" y="2850356"/>
            <a:ext cx="3614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levels in structured support activities.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71500" y="3286125"/>
            <a:ext cx="57150" cy="571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742950" y="3214688"/>
            <a:ext cx="3614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&amp; Backup Mapping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42950" y="3450431"/>
            <a:ext cx="3614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 and readiness of support network.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71500" y="3886200"/>
            <a:ext cx="57150" cy="571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42950" y="3814763"/>
            <a:ext cx="3614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Attendance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742950" y="4050506"/>
            <a:ext cx="3614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pulse signals from community interactions.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786313" y="1414463"/>
            <a:ext cx="3786188" cy="303609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4786313" y="1414463"/>
            <a:ext cx="42863" cy="303609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5072063" y="2160984"/>
            <a:ext cx="3214688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signals form the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inputs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CARE-LIFE framework.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task is to structure them into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dimensions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part of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data model implementation.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71500" y="445055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7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3696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1"/>
          <p:cNvSpPr/>
          <p:nvPr/>
        </p:nvSpPr>
        <p:spPr>
          <a:xfrm>
            <a:off x="2653010" y="401836"/>
            <a:ext cx="5929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SIGNALS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388816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660279" y="401836"/>
            <a:ext cx="6429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446091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7554" y="401836"/>
            <a:ext cx="8304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CBD5E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INDICATORS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90890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962352" y="401836"/>
            <a:ext cx="5286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CBD5E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ACTION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" y="869752"/>
            <a:ext cx="8001000" cy="8072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669852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869752"/>
            <a:ext cx="6484097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Proposed Caregiver Wellbeing &amp; Sustainability Domains</a:t>
            </a:r>
            <a:endParaRPr lang="en-US" sz="2016" dirty="0"/>
          </a:p>
        </p:txBody>
      </p:sp>
      <p:sp>
        <p:nvSpPr>
          <p:cNvPr id="14" name="Shape 11"/>
          <p:cNvSpPr/>
          <p:nvPr/>
        </p:nvSpPr>
        <p:spPr>
          <a:xfrm>
            <a:off x="7055597" y="1037630"/>
            <a:ext cx="1516903" cy="35718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7055597" y="1037630"/>
            <a:ext cx="1516903" cy="35718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DISCUSSION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1812727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domains organize systematic signals into dimensions of caregiver burden and continuity risk.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571500" y="2110978"/>
            <a:ext cx="2464594" cy="59203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4375" y="2218134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Emotional Health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714375" y="2402086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ZBI-6 scores, interaction sentiment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3121819" y="2110978"/>
            <a:ext cx="2464594" cy="59203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4694" y="2218134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Physical Well-being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264694" y="2402086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self-reports, respite usage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571500" y="2778026"/>
            <a:ext cx="2464594" cy="59561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4375" y="2885182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Social Connection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14375" y="3069134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attendance, peer engagement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3121819" y="2778026"/>
            <a:ext cx="2464594" cy="59561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64694" y="2888754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Knowledge &amp; Skills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264694" y="3072705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participation, resource usage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571500" y="3452217"/>
            <a:ext cx="2464594" cy="59918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4375" y="3559373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Financial Stability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714375" y="3743325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 referrals, financial mapping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3121819" y="3452217"/>
            <a:ext cx="2464594" cy="59918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64694" y="3566517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Future Sustainability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3264694" y="3750469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status, legal readiness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571500" y="4133552"/>
            <a:ext cx="2464594" cy="602754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4375" y="4251424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 Network Capacity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714375" y="4435376"/>
            <a:ext cx="21788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caregivers, network depth</a:t>
            </a:r>
            <a:endParaRPr lang="en-US" sz="674" dirty="0"/>
          </a:p>
        </p:txBody>
      </p:sp>
      <p:sp>
        <p:nvSpPr>
          <p:cNvPr id="38" name="Shape 35"/>
          <p:cNvSpPr/>
          <p:nvPr/>
        </p:nvSpPr>
        <p:spPr>
          <a:xfrm>
            <a:off x="5872163" y="2110978"/>
            <a:ext cx="2700338" cy="26253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6"/>
          <p:cNvSpPr/>
          <p:nvPr/>
        </p:nvSpPr>
        <p:spPr>
          <a:xfrm>
            <a:off x="6086475" y="3013407"/>
            <a:ext cx="22717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FEEDBACK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6086475" y="3293799"/>
            <a:ext cx="2271713" cy="54005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these domains sufficient to reflect evolving burden and continuity risk?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8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32682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1"/>
          <p:cNvSpPr/>
          <p:nvPr/>
        </p:nvSpPr>
        <p:spPr>
          <a:xfrm>
            <a:off x="2653010" y="380405"/>
            <a:ext cx="5929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SIGNALS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388816" y="371475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660279" y="380405"/>
            <a:ext cx="6429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446091" y="371475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7554" y="380405"/>
            <a:ext cx="8304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INDICATORS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90890" y="371475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962352" y="380405"/>
            <a:ext cx="5286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CBD5E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755452"/>
            <a:ext cx="800100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Indicator View: Multi-Dimensional Caregiver Burden</a:t>
            </a:r>
            <a:endParaRPr lang="en-US" sz="2226" dirty="0"/>
          </a:p>
        </p:txBody>
      </p:sp>
      <p:sp>
        <p:nvSpPr>
          <p:cNvPr id="12" name="Text 9"/>
          <p:cNvSpPr/>
          <p:nvPr/>
        </p:nvSpPr>
        <p:spPr>
          <a:xfrm>
            <a:off x="571500" y="1207294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conceptual view shows how caregiver strain can vary across dimensions and shift over time.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571500" y="204043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04043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57225" y="209758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Emotional Health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57225" y="2249388"/>
            <a:ext cx="156512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Stress, coping, psychological strain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2393798" y="204043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2393798" y="204043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479523" y="209758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Physical Well-being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479523" y="2249388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Caregiving load, health strain, respite access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571500" y="260300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260300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657225" y="266015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Social Connection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57225" y="2811959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support, community ties, isolation risk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2393798" y="260300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2393798" y="260300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2479523" y="266015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Knowledge &amp; Skills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2479523" y="2811959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Caregiving competency, training, resource literacy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571500" y="316557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316557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657225" y="322272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Financial Stability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657225" y="3374529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costs, financial stress, aid access</a:t>
            </a:r>
            <a:endParaRPr lang="en-US" sz="674" dirty="0"/>
          </a:p>
        </p:txBody>
      </p:sp>
      <p:sp>
        <p:nvSpPr>
          <p:cNvPr id="33" name="Shape 30"/>
          <p:cNvSpPr/>
          <p:nvPr/>
        </p:nvSpPr>
        <p:spPr>
          <a:xfrm>
            <a:off x="2393798" y="3165574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2393798" y="3165574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2479523" y="3222724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Future Sustainability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2479523" y="3374529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planning, legal readiness, long-term continuity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571500" y="3728145"/>
            <a:ext cx="1736573" cy="4911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5"/>
          <p:cNvSpPr/>
          <p:nvPr/>
        </p:nvSpPr>
        <p:spPr>
          <a:xfrm>
            <a:off x="571500" y="3728145"/>
            <a:ext cx="28575" cy="49113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657225" y="3785295"/>
            <a:ext cx="15651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 Network Capacity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657225" y="3937099"/>
            <a:ext cx="15651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caregivers, network depth, shared responsibility</a:t>
            </a:r>
            <a:endParaRPr lang="en-US" sz="674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821" y="1843980"/>
            <a:ext cx="4270511" cy="257175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9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3696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1"/>
          <p:cNvSpPr/>
          <p:nvPr/>
        </p:nvSpPr>
        <p:spPr>
          <a:xfrm>
            <a:off x="2653010" y="401836"/>
            <a:ext cx="5929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SIGNALS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388816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660279" y="401836"/>
            <a:ext cx="6429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446091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7554" y="401836"/>
            <a:ext cx="8304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INDICATORS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90890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962352" y="401836"/>
            <a:ext cx="5286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CBD5E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ACTION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" y="869752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426964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869752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Domains to Indicators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71500" y="1641277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stage explains how structured domains translate into interpretable indicators for family and community visibility.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571500" y="2010966"/>
            <a:ext cx="3857625" cy="192345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2010966"/>
            <a:ext cx="3857625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2296716"/>
            <a:ext cx="32861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Individual-Level Visibility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857250" y="2716411"/>
            <a:ext cx="3286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domain shifts across time to identify changes in family needs.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4714875" y="2010966"/>
            <a:ext cx="3857625" cy="192345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4714875" y="2010966"/>
            <a:ext cx="3857625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5000625" y="2296716"/>
            <a:ext cx="32861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Community-Level Visibility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5000625" y="2716411"/>
            <a:ext cx="3286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domain signals by geography to reveal regional support gaps.</a:t>
            </a:r>
            <a:endParaRPr lang="en-US" sz="1090" dirty="0"/>
          </a:p>
        </p:txBody>
      </p:sp>
      <p:sp>
        <p:nvSpPr>
          <p:cNvPr id="23" name="Shape 20"/>
          <p:cNvSpPr/>
          <p:nvPr/>
        </p:nvSpPr>
        <p:spPr>
          <a:xfrm>
            <a:off x="571500" y="4220170"/>
            <a:ext cx="8001000" cy="5161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4220170"/>
            <a:ext cx="42863" cy="5161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742950" y="4391620"/>
            <a:ext cx="76581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Indicators guide prioritisation and resource allocation —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automated labelling.</a:t>
            </a:r>
            <a:pPr algn="ctr" indent="0" marL="0">
              <a:lnSpc>
                <a:spcPts val="1400"/>
              </a:lnSpc>
              <a:buNone/>
            </a:pP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10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3696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1"/>
          <p:cNvSpPr/>
          <p:nvPr/>
        </p:nvSpPr>
        <p:spPr>
          <a:xfrm>
            <a:off x="2653010" y="401836"/>
            <a:ext cx="5929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SIGNALS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388816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660279" y="401836"/>
            <a:ext cx="6429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446091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7554" y="401836"/>
            <a:ext cx="8304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INDICATORS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90890" y="392906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962352" y="401836"/>
            <a:ext cx="5286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ACTION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" y="869752"/>
            <a:ext cx="8001000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391245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869752"/>
            <a:ext cx="8001000" cy="52863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Operational Implication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71500" y="1534120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stage shows how structured visibility translates into coordinated individual and community action.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1903809"/>
            <a:ext cx="3857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Individual Action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571500" y="2275284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714375" y="2228850"/>
            <a:ext cx="12340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worker outreach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571500" y="2516721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2470286"/>
            <a:ext cx="1614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Geo-matched peer support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71500" y="2758157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714375" y="2711723"/>
            <a:ext cx="10054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 review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571500" y="2999594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714375" y="2953159"/>
            <a:ext cx="9554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referral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714875" y="1903809"/>
            <a:ext cx="3857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Community Action</a:t>
            </a:r>
            <a:endParaRPr lang="en-US" sz="1193" dirty="0"/>
          </a:p>
        </p:txBody>
      </p:sp>
      <p:sp>
        <p:nvSpPr>
          <p:cNvPr id="25" name="Shape 22"/>
          <p:cNvSpPr/>
          <p:nvPr/>
        </p:nvSpPr>
        <p:spPr>
          <a:xfrm>
            <a:off x="4714875" y="2275284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2228850"/>
            <a:ext cx="22181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Geo-targeted CAREConnect sessions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4714875" y="2516721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4857750" y="2470286"/>
            <a:ext cx="19198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planning workshops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4714875" y="2758157"/>
            <a:ext cx="42863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4857750" y="2711723"/>
            <a:ext cx="12394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Thematic campaigns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571500" y="3461928"/>
            <a:ext cx="8001000" cy="11315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3461928"/>
            <a:ext cx="8001000" cy="428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0"/>
          <p:cNvSpPr/>
          <p:nvPr/>
        </p:nvSpPr>
        <p:spPr>
          <a:xfrm>
            <a:off x="785813" y="3719103"/>
            <a:ext cx="757237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When caregiver burden evolves across life stages, 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our 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CARE-LIFE operating model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captures that evolution 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ctr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94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translates it into earlier, structured continuity action.</a:t>
            </a:r>
            <a:endParaRPr lang="en-US" sz="1090" dirty="0"/>
          </a:p>
        </p:txBody>
      </p:sp>
      <p:sp>
        <p:nvSpPr>
          <p:cNvPr id="34" name="Text 31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CARE-LIFE Internal | Page 11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2026-02-27T02:51:25Z</dcterms:created>
  <dcterms:modified xsi:type="dcterms:W3CDTF">2026-02-27T02:51:25Z</dcterms:modified>
</cp:coreProperties>
</file>